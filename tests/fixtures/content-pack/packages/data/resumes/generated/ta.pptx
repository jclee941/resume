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396" autoAdjust="0"/>
    <p:restoredTop sz="94660"/>
  </p:normalViewPr>
  <p:slideViewPr>
    <p:cSldViewPr snapToGrid="0">
      <p:cViewPr>
        <p:scale>
          <a:sx n="150" d="100"/>
          <a:sy n="150" d="100"/>
        </p:scale>
        <p:origin x="1590" y="5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057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344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1468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8128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6073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2997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8163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856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130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767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0774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23B0AC6-C932-67F9-38F2-6E8D140ED304}"/>
              </a:ext>
            </a:extLst>
          </p:cNvPr>
          <p:cNvCxnSpPr/>
          <p:nvPr userDrawn="1"/>
        </p:nvCxnSpPr>
        <p:spPr>
          <a:xfrm>
            <a:off x="0" y="841813"/>
            <a:ext cx="12192000" cy="0"/>
          </a:xfrm>
          <a:prstGeom prst="line">
            <a:avLst/>
          </a:prstGeom>
          <a:ln>
            <a:solidFill>
              <a:srgbClr val="0742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8995" y="6365892"/>
            <a:ext cx="1454331" cy="266107"/>
          </a:xfrm>
          <a:prstGeom prst="rect">
            <a:avLst/>
          </a:prstGeom>
        </p:spPr>
      </p:pic>
      <p:sp>
        <p:nvSpPr>
          <p:cNvPr id="10" name="제목 6"/>
          <p:cNvSpPr txBox="1">
            <a:spLocks/>
          </p:cNvSpPr>
          <p:nvPr userDrawn="1"/>
        </p:nvSpPr>
        <p:spPr>
          <a:xfrm>
            <a:off x="680751" y="206102"/>
            <a:ext cx="3439073" cy="498185"/>
          </a:xfrm>
          <a:prstGeom prst="rect">
            <a:avLst/>
          </a:prstGeom>
        </p:spPr>
        <p:txBody>
          <a:bodyPr/>
          <a:lstStyle>
            <a:lvl1pPr algn="l" rtl="0" fontAlgn="base" latinLnBrk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5pPr>
            <a:lvl6pPr marL="493442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6pPr>
            <a:lvl7pPr marL="986884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7pPr>
            <a:lvl8pPr marL="1480326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8pPr>
            <a:lvl9pPr marL="1973768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9pPr>
          </a:lstStyle>
          <a:p>
            <a:pPr defTabSz="914400"/>
            <a:r>
              <a:rPr lang="ko-KR" altLang="en-US" dirty="0">
                <a:latin typeface="HY그래픽M" panose="02030600000101010101" pitchFamily="18" charset="-127"/>
                <a:ea typeface="HY그래픽M" panose="02030600000101010101" pitchFamily="18" charset="-127"/>
              </a:rPr>
              <a:t>이력 및 경력사항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23B0AC6-C932-67F9-38F2-6E8D140ED304}"/>
              </a:ext>
            </a:extLst>
          </p:cNvPr>
          <p:cNvCxnSpPr/>
          <p:nvPr userDrawn="1"/>
        </p:nvCxnSpPr>
        <p:spPr>
          <a:xfrm>
            <a:off x="0" y="6228365"/>
            <a:ext cx="12192000" cy="0"/>
          </a:xfrm>
          <a:prstGeom prst="line">
            <a:avLst/>
          </a:prstGeom>
          <a:ln>
            <a:solidFill>
              <a:srgbClr val="0742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그룹 22"/>
          <p:cNvGrpSpPr/>
          <p:nvPr userDrawn="1"/>
        </p:nvGrpSpPr>
        <p:grpSpPr>
          <a:xfrm>
            <a:off x="469013" y="189470"/>
            <a:ext cx="61966" cy="565057"/>
            <a:chOff x="469013" y="189470"/>
            <a:chExt cx="61966" cy="565057"/>
          </a:xfrm>
        </p:grpSpPr>
        <p:cxnSp>
          <p:nvCxnSpPr>
            <p:cNvPr id="21" name="직선 연결선 20"/>
            <p:cNvCxnSpPr/>
            <p:nvPr userDrawn="1"/>
          </p:nvCxnSpPr>
          <p:spPr>
            <a:xfrm>
              <a:off x="469013" y="189470"/>
              <a:ext cx="0" cy="477795"/>
            </a:xfrm>
            <a:prstGeom prst="line">
              <a:avLst/>
            </a:prstGeom>
            <a:ln w="25400" cap="rnd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/>
            <p:cNvCxnSpPr/>
            <p:nvPr userDrawn="1"/>
          </p:nvCxnSpPr>
          <p:spPr>
            <a:xfrm>
              <a:off x="530979" y="276732"/>
              <a:ext cx="0" cy="477795"/>
            </a:xfrm>
            <a:prstGeom prst="line">
              <a:avLst/>
            </a:prstGeom>
            <a:ln w="25400" cap="rnd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22606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F6D9032-CDD5-8690-FA66-2408BF2EA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075816"/>
              </p:ext>
            </p:extLst>
          </p:nvPr>
        </p:nvGraphicFramePr>
        <p:xfrm>
          <a:off x="478161" y="923889"/>
          <a:ext cx="10907963" cy="5180673"/>
        </p:xfrm>
        <a:graphic>
          <a:graphicData uri="http://schemas.openxmlformats.org/drawingml/2006/table">
            <a:tbl>
              <a:tblPr/>
              <a:tblGrid>
                <a:gridCol w="152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5121">
                  <a:extLst>
                    <a:ext uri="{9D8B030D-6E8A-4147-A177-3AD203B41FA5}">
                      <a16:colId xmlns:a16="http://schemas.microsoft.com/office/drawing/2014/main" val="1416508356"/>
                    </a:ext>
                  </a:extLst>
                </a:gridCol>
                <a:gridCol w="213580">
                  <a:extLst>
                    <a:ext uri="{9D8B030D-6E8A-4147-A177-3AD203B41FA5}">
                      <a16:colId xmlns:a16="http://schemas.microsoft.com/office/drawing/2014/main" val="1537190452"/>
                    </a:ext>
                  </a:extLst>
                </a:gridCol>
                <a:gridCol w="1311540">
                  <a:extLst>
                    <a:ext uri="{9D8B030D-6E8A-4147-A177-3AD203B41FA5}">
                      <a16:colId xmlns:a16="http://schemas.microsoft.com/office/drawing/2014/main" val="248982781"/>
                    </a:ext>
                  </a:extLst>
                </a:gridCol>
                <a:gridCol w="1525120">
                  <a:extLst>
                    <a:ext uri="{9D8B030D-6E8A-4147-A177-3AD203B41FA5}">
                      <a16:colId xmlns:a16="http://schemas.microsoft.com/office/drawing/2014/main" val="686502626"/>
                    </a:ext>
                  </a:extLst>
                </a:gridCol>
                <a:gridCol w="2169750">
                  <a:extLst>
                    <a:ext uri="{9D8B030D-6E8A-4147-A177-3AD203B41FA5}">
                      <a16:colId xmlns:a16="http://schemas.microsoft.com/office/drawing/2014/main" val="3925810642"/>
                    </a:ext>
                  </a:extLst>
                </a:gridCol>
                <a:gridCol w="1112612">
                  <a:extLst>
                    <a:ext uri="{9D8B030D-6E8A-4147-A177-3AD203B41FA5}">
                      <a16:colId xmlns:a16="http://schemas.microsoft.com/office/drawing/2014/main" val="706285407"/>
                    </a:ext>
                  </a:extLst>
                </a:gridCol>
                <a:gridCol w="1525120">
                  <a:extLst>
                    <a:ext uri="{9D8B030D-6E8A-4147-A177-3AD203B41FA5}">
                      <a16:colId xmlns:a16="http://schemas.microsoft.com/office/drawing/2014/main" val="1169490513"/>
                    </a:ext>
                  </a:extLst>
                </a:gridCol>
              </a:tblGrid>
              <a:tr h="276771">
                <a:tc gridSpan="5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en-US" altLang="ko-KR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1. </a:t>
                      </a:r>
                      <a:r>
                        <a:rPr kumimoji="0" lang="ko-KR" altLang="en-US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부나두모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쿠초수마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300553"/>
                  </a:ext>
                </a:extLst>
              </a:tr>
              <a:tr h="341596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9pPr>
                    </a:lstStyle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소포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두초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Pretendard Medium" panose="02000603000000020004" pitchFamily="50" charset="-127"/>
                          <a:sym typeface="Pretendard SemiBold"/>
                        </a:rPr>
                        <a:t>포아 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포아 </a:t>
                      </a:r>
                      <a:endParaRPr kumimoji="0" lang="ko-KR" altLang="en-US" sz="1100" b="1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코도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모나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코수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도모보토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37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카라구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en-US" altLang="ko-KR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TODOFIBA</a:t>
                      </a: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Pretendard" panose="02000503000000020004" pitchFamily="50" charset="-127"/>
                          <a:sym typeface="Pretendard SemiBold"/>
                        </a:rPr>
                        <a:t>수보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 dirty="0" smtClean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가초</a:t>
                      </a: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나두구쿠오부다가</a:t>
                      </a:r>
                      <a:r>
                        <a:rPr lang="en-US" altLang="ko-KR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(</a:t>
                      </a: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카초</a:t>
                      </a:r>
                      <a:r>
                        <a:rPr lang="en-US" altLang="ko-KR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)</a:t>
                      </a: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무가후사쿠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8508744"/>
                  </a:ext>
                </a:extLst>
              </a:tr>
              <a:tr h="373432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포추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만 </a:t>
                      </a:r>
                      <a:r>
                        <a:rPr lang="en-US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  31 </a:t>
                      </a: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세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Pretendard Medium" panose="02000603000000020004" pitchFamily="50" charset="-127"/>
                          <a:sym typeface="Pretendard SemiBold"/>
                        </a:rPr>
                        <a:t>총 경력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총 경력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en-US" altLang="ko-KR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7</a:t>
                      </a: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년 </a:t>
                      </a:r>
                      <a:r>
                        <a:rPr lang="en-US" altLang="ko-KR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5</a:t>
                      </a: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바카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도모보토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0413523"/>
                  </a:ext>
                </a:extLst>
              </a:tr>
              <a:tr h="247637">
                <a:tc gridSpan="5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KoPub돋움체 Bold" panose="02020603020101020101" pitchFamily="18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725"/>
                  </a:ext>
                </a:extLst>
              </a:tr>
              <a:tr h="247637">
                <a:tc gridSpan="5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744804"/>
                  </a:ext>
                </a:extLst>
              </a:tr>
              <a:tr h="276771">
                <a:tc gridSpan="5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en-US" altLang="ko-KR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2. </a:t>
                      </a:r>
                      <a:r>
                        <a:rPr kumimoji="0" lang="ko-KR" altLang="en-US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경력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tc gridSpan="3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en-US" altLang="ko-KR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3. </a:t>
                      </a:r>
                      <a:r>
                        <a:rPr kumimoji="0" lang="ko-KR" altLang="en-US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자격증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KoPub돋움체 Bold" panose="02020603020101020101" pitchFamily="18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628550480"/>
                  </a:ext>
                </a:extLst>
              </a:tr>
              <a:tr h="375270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라구고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후차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포아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ko-KR" altLang="en-US" sz="1100" b="0" kern="1200" baseline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쿠초수마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자격증명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ko-KR" altLang="en-US" sz="1100" b="0" kern="1200" baseline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루코우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467489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TODOFIBA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2025.03 ~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도푸누두주노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쿠고모바</a:t>
                      </a:r>
                      <a:endParaRPr lang="en-US" altLang="ko-KR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다노소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KA</a:t>
                      </a:r>
                    </a:p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추노코우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en-US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Vot Zuk Fotulekam Kimoli Torikolazobag (TAZAV) 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5312540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아고추포호하구무루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2024.03~2025.02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도푸누두주노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쿠고모바</a:t>
                      </a:r>
                      <a:endParaRPr lang="en-US" altLang="ko-KR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다노소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오바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추노코우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af-ZA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NosuLAM Sodak+ 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578843"/>
                  </a:ext>
                </a:extLst>
              </a:tr>
              <a:tr h="24763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초나노코주도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2022.08~2024.03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쿠차두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주아도다모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af-ZA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ZAVI Tikap 1 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5278148"/>
                  </a:ext>
                </a:extLst>
              </a:tr>
              <a:tr h="30044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조차아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2022.05~2022.07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Vuvi-sol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루무마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alt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Sofupi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ko-KR" altLang="en-US" sz="1100" b="0" kern="1200" baseline="0" dirty="0" err="1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우보자토누파로모포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348449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차부카아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2021.09~2022.04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바두투카아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쿠도조 파마사초자다두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오바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ko-KR" altLang="en-US" sz="1100" b="0" kern="1200" baseline="0" dirty="0" err="1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가누고다하나</a:t>
                      </a:r>
                      <a:r>
                        <a:rPr kumimoji="0" lang="ko-KR" altLang="en-US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 </a:t>
                      </a:r>
                      <a:r>
                        <a:rPr kumimoji="0" lang="en-US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2</a:t>
                      </a:r>
                      <a:r>
                        <a:rPr kumimoji="0" lang="ko-KR" altLang="en-US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급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581663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바초라차가수토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2020.08 ~ 2021.08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쿠조카모 두토고 오바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수오코고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바소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부추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en-US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LIPE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326498"/>
                  </a:ext>
                </a:extLst>
              </a:tr>
              <a:tr h="30044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타포가하고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2017.08~2018.08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구가아수우누라투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다노소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부추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93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0823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819F73D-066F-DCE5-3DAD-E265E4F4A6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406439"/>
              </p:ext>
            </p:extLst>
          </p:nvPr>
        </p:nvGraphicFramePr>
        <p:xfrm>
          <a:off x="646728" y="1171631"/>
          <a:ext cx="10907962" cy="4604304"/>
        </p:xfrm>
        <a:graphic>
          <a:graphicData uri="http://schemas.openxmlformats.org/drawingml/2006/table">
            <a:tbl>
              <a:tblPr/>
              <a:tblGrid>
                <a:gridCol w="2367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1381">
                  <a:extLst>
                    <a:ext uri="{9D8B030D-6E8A-4147-A177-3AD203B41FA5}">
                      <a16:colId xmlns:a16="http://schemas.microsoft.com/office/drawing/2014/main" val="1163780365"/>
                    </a:ext>
                  </a:extLst>
                </a:gridCol>
                <a:gridCol w="1835894">
                  <a:extLst>
                    <a:ext uri="{9D8B030D-6E8A-4147-A177-3AD203B41FA5}">
                      <a16:colId xmlns:a16="http://schemas.microsoft.com/office/drawing/2014/main" val="2402368711"/>
                    </a:ext>
                  </a:extLst>
                </a:gridCol>
                <a:gridCol w="2036513">
                  <a:extLst>
                    <a:ext uri="{9D8B030D-6E8A-4147-A177-3AD203B41FA5}">
                      <a16:colId xmlns:a16="http://schemas.microsoft.com/office/drawing/2014/main" val="736016067"/>
                    </a:ext>
                  </a:extLst>
                </a:gridCol>
                <a:gridCol w="1881096">
                  <a:extLst>
                    <a:ext uri="{9D8B030D-6E8A-4147-A177-3AD203B41FA5}">
                      <a16:colId xmlns:a16="http://schemas.microsoft.com/office/drawing/2014/main" val="1670531095"/>
                    </a:ext>
                  </a:extLst>
                </a:gridCol>
                <a:gridCol w="1525119">
                  <a:extLst>
                    <a:ext uri="{9D8B030D-6E8A-4147-A177-3AD203B41FA5}">
                      <a16:colId xmlns:a16="http://schemas.microsoft.com/office/drawing/2014/main" val="1169490513"/>
                    </a:ext>
                  </a:extLst>
                </a:gridCol>
              </a:tblGrid>
              <a:tr h="408260">
                <a:tc gridSpan="6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en-US" altLang="ko-KR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4. </a:t>
                      </a:r>
                      <a:r>
                        <a:rPr kumimoji="0" lang="ko-KR" altLang="en-US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프로젝트 두루토카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904196"/>
                  </a:ext>
                </a:extLst>
              </a:tr>
              <a:tr h="539854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프로젝트명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lang="ko-KR" altLang="en-US" sz="1100" b="1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쿠고</a:t>
                      </a:r>
                      <a:endParaRPr kumimoji="0" lang="ko-KR" altLang="en-US" sz="1100" b="1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lang="ko-KR" altLang="en-US" sz="1100" b="1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쿠초수마</a:t>
                      </a:r>
                      <a:endParaRPr kumimoji="0" lang="ko-KR" altLang="en-US" sz="1100" b="1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1" kern="1200" dirty="0" err="1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기술포부</a:t>
                      </a:r>
                      <a:endParaRPr lang="ko-KR" altLang="en-US" sz="1100" b="1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1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하라고나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1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고누조</a:t>
                      </a: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881922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쿠로노라두자타 운영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차조구누두노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2024.03~2025.02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spc="-100" baseline="0" dirty="0" err="1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도푸누두주노</a:t>
                      </a:r>
                      <a:endParaRPr lang="ko-KR" altLang="en-US" sz="110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1806300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쿠로노라두자타 오바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추노코우 다노소 오바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2025.03~2025.12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도푸누두주노</a:t>
                      </a:r>
                      <a:endParaRPr lang="ko-KR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5300894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바무구도오파카고나아 오바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추노코우 다노소 오바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2021.09~2022.04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바두투카아</a:t>
                      </a:r>
                      <a:endParaRPr lang="ko-KR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14561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546702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682709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9163382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8319921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178434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otype Sorts" pitchFamily="2" charset="2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en-US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en-US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otype Sorts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5560218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otype Sorts" pitchFamily="2" charset="2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en-US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en-US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0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itchFamily="18" charset="0"/>
                        <a:sym typeface="Monotype Sorts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1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618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4119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w Cen MT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142</Words>
  <Application>Mozerised Bofeba TolumAzevi</Application>
  <PresentationFormat>두구오우코카</PresentationFormat>
  <Paragraphs>79</Paragraphs>
  <Slides>2</Slides>
  <Notes>0</Notes>
  <HiddenSlides>0</HiddenSlides>
  <MMClips>0</MMClips>
  <ScaleCrop>fezof</ScaleCrop>
  <HeadingPairs>
    <vt:vector size="6" baseType="variant">
      <vt:variant>
        <vt:lpstr>코투오 조우</vt:lpstr>
      </vt:variant>
      <vt:variant>
        <vt:i4>12</vt:i4>
      </vt:variant>
      <vt:variant>
        <vt:lpstr>후모</vt:lpstr>
      </vt:variant>
      <vt:variant>
        <vt:i4>1</vt:i4>
      </vt:variant>
      <vt:variant>
        <vt:lpstr>바추주가 자다</vt:lpstr>
      </vt:variant>
      <vt:variant>
        <vt:i4>2</vt:i4>
      </vt:variant>
    </vt:vector>
  </HeadingPairs>
  <TitlesOfParts>
    <vt:vector size="15" baseType="lpstr">
      <vt:lpstr>BIgatO</vt:lpstr>
      <vt:lpstr>ZUgapeZ</vt:lpstr>
      <vt:lpstr>Mifotufi Golut</vt:lpstr>
      <vt:lpstr>Vigorikuna</vt:lpstr>
      <vt:lpstr>Vigorikuna Zituma</vt:lpstr>
      <vt:lpstr>Vigorikuna KopeNasu</vt:lpstr>
      <vt:lpstr>두바 포가</vt:lpstr>
      <vt:lpstr>Punil</vt:lpstr>
      <vt:lpstr>Romuf Bil Numik</vt:lpstr>
      <vt:lpstr>Lo Mon LI</vt:lpstr>
      <vt:lpstr>Kufigesap</vt:lpstr>
      <vt:lpstr>Kufigesap 2</vt:lpstr>
      <vt:lpstr>Bofeba 후모</vt:lpstr>
      <vt:lpstr>TolumAzevi 후소타무투포</vt:lpstr>
      <vt:lpstr>TolumAzevi 후소타무투포</vt:lpstr>
    </vt:vector>
  </TitlesOfParts>
  <Company/>
  <LinksUpToDate>fezof</LinksUpToDate>
  <SharedDoc>fezof</SharedDoc>
  <HyperlinksChanged>fezof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TolumAzevi 후소타무투포</dc:title>
  <dc:creator>Kezi Vuz Libu</dc:creator>
  <cp:lastModifiedBy>Kezi Vuz Libu</cp:lastModifiedBy>
  <cp:revision>14</cp:revision>
  <dcterms:created xsi:type="dcterms:W3CDTF">2025-10-19T06:13:25Z</dcterms:created>
  <dcterms:modified xsi:type="dcterms:W3CDTF">2025-10-21T05:27:13Z</dcterms:modified>
</cp:coreProperties>
</file>